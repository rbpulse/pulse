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Month 6</c:v>
                  </c:pt>
                  <c:pt idx="1">
                    <c:v>Month 12</c:v>
                  </c:pt>
                  <c:pt idx="2">
                    <c:v>Month 18</c:v>
                  </c:pt>
                  <c:pt idx="3">
                    <c:v>Month 24</c:v>
                  </c:pt>
                  <c:pt idx="4">
                    <c:v>Month 30</c:v>
                  </c:pt>
                  <c:pt idx="5">
                    <c:v>Month 36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30000</c:v>
                </c:pt>
                <c:pt idx="1">
                  <c:v>120000</c:v>
                </c:pt>
                <c:pt idx="2">
                  <c:v>300000</c:v>
                </c:pt>
                <c:pt idx="3">
                  <c:v>600000</c:v>
                </c:pt>
                <c:pt idx="4">
                  <c:v>800000</c:v>
                </c:pt>
                <c:pt idx="5">
                  <c:v>1000000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1E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1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80000">
            <a:off x="5943600" y="-457200"/>
            <a:ext cx="4114800" cy="640080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6583680" y="-457200"/>
            <a:ext cx="2743200" cy="6400800"/>
          </a:xfrm>
          <a:prstGeom prst="rect">
            <a:avLst/>
          </a:prstGeom>
          <a:solidFill>
            <a:srgbClr val="0A0A10"/>
          </a:solidFill>
          <a:ln w="12700">
            <a:solidFill>
              <a:srgbClr val="0A0A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INVESTOR MATERIALS —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spc="1200" kern="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5303520" y="1920240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Peptide Delivery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218688"/>
            <a:ext cx="320040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10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press. Every day.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CLINICAL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Adherence Gap.</a:t>
            </a:r>
            <a:endParaRPr lang="en-US" sz="3400" dirty="0"/>
          </a:p>
          <a:p>
            <a:pPr indent="0" marL="0">
              <a:buNone/>
            </a:pPr>
            <a:r>
              <a:rPr lang="en-US" sz="34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 attrition. Preventable.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926080" cy="246888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45720" cy="2468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95728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94360" y="36393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discontinue injectable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 within 90 days — not due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clinical failure, but Clinical Friction.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2286000"/>
            <a:ext cx="1719072" cy="24688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286000"/>
            <a:ext cx="36576" cy="2468880"/>
          </a:xfrm>
          <a:prstGeom prst="rect">
            <a:avLst/>
          </a:prstGeom>
          <a:solidFill>
            <a:srgbClr val="2A2928"/>
          </a:solidFill>
          <a:ln w="12700">
            <a:solidFill>
              <a:srgbClr val="2A29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9896" y="2395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CF-01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739896" y="2633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Unregulated Sourcing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39896" y="3072384"/>
            <a:ext cx="148132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self-source peptide vials without standardization, certificate of analysis, or pharmaceutical-grade verification. No chain of custody. No clinical accountability.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286000"/>
            <a:ext cx="1719072" cy="24688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2286000"/>
            <a:ext cx="36576" cy="2468880"/>
          </a:xfrm>
          <a:prstGeom prst="rect">
            <a:avLst/>
          </a:prstGeom>
          <a:solidFill>
            <a:srgbClr val="2A2928"/>
          </a:solidFill>
          <a:ln w="12700">
            <a:solidFill>
              <a:srgbClr val="2A29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14416" y="2395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CF-02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14416" y="2633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Reconstitution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14416" y="3072384"/>
            <a:ext cx="148132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Lyophilized peptide preparation requires sterile technique, volumetric measurement, and sub-milliliter syringe precision — a process incompatible with daily unsupervised use.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60920" y="2286000"/>
            <a:ext cx="1719072" cy="24688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2286000"/>
            <a:ext cx="36576" cy="2468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88936" y="2395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CF-03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88936" y="2633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Passive Sharps Exposure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88936" y="3072384"/>
            <a:ext cx="148132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Unshielded 31G needles generate persistent psychological aversion. Without passive sharps protection, visible needle exposure is the primary driver of protocol abandonment.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solidFill>
            <a:srgbClr val="2A23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63600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Friction is not a patient compliance failure. It is a product design failure.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ADHERENCE GAP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One-Press Ritual.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Invisible needle. Daily habit.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760720" y="182880"/>
            <a:ext cx="3200400" cy="466344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645920"/>
            <a:ext cx="292608" cy="29260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83096" y="1737360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2670048"/>
            <a:ext cx="237744" cy="877824"/>
          </a:xfrm>
          <a:prstGeom prst="rect">
            <a:avLst/>
          </a:prstGeom>
          <a:solidFill>
            <a:srgbClr val="2A231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463600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BPC-157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949440" y="1005840"/>
            <a:ext cx="365760" cy="35661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68312" y="1097280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76872" y="2253996"/>
            <a:ext cx="310896" cy="1069848"/>
          </a:xfrm>
          <a:prstGeom prst="rect">
            <a:avLst/>
          </a:prstGeom>
          <a:solidFill>
            <a:srgbClr val="2A231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4636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 CORE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7498080" y="2011680"/>
            <a:ext cx="256032" cy="256032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62088" y="2103120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25512" y="2907792"/>
            <a:ext cx="201168" cy="768096"/>
          </a:xfrm>
          <a:prstGeom prst="rect">
            <a:avLst/>
          </a:prstGeom>
          <a:solidFill>
            <a:srgbClr val="2A231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46360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GHK-CU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2194560" cy="274320"/>
          </a:xfrm>
          <a:prstGeom prst="ellipse">
            <a:avLst/>
          </a:prstGeom>
          <a:solidFill>
            <a:srgbClr val="2A2310"/>
          </a:solidFill>
          <a:ln w="12700">
            <a:solidFill>
              <a:srgbClr val="2A23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4315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6061-T6 Aluminum  ·  Passive Retraction Shield  ·  Mag-Snap Interface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19568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PHYSICIAN-AUTHORISED PROTOCOL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221284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MSO-affiliated prescribing physician reviews intake and establishes a personalised peptide protocol under full clinical supervision.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788920"/>
            <a:ext cx="512064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5840" y="28712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503B PHARMACY FULFILMENT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" y="312724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 Pods filled by FDA-registered 503B compounding partners (e.g. Empower Pharmacy). Sterile, labelled, and shipped direct.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512064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05840" y="37856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ONE-PRESS DELIVERY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" y="404164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Retraction Shield engages on depression. Needle is never exposed before, during, or after actuation. Used Tip locks for sharps compliance.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massive,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motivated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 is now.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SEGMENTS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/ Bodybuilding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3959352"/>
            <a:ext cx="1645920" cy="10058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3959352"/>
            <a:ext cx="1645920" cy="1005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3913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Biohackers / Longevity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4206240"/>
            <a:ext cx="1645920" cy="10058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4206240"/>
            <a:ext cx="1316736" cy="100584"/>
          </a:xfrm>
          <a:prstGeom prst="rect">
            <a:avLst/>
          </a:prstGeom>
          <a:solidFill>
            <a:srgbClr val="2A2310"/>
          </a:solidFill>
          <a:ln w="12700">
            <a:solidFill>
              <a:srgbClr val="2A23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4160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407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Adjacent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0" y="4453128"/>
            <a:ext cx="1645920" cy="10058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4453128"/>
            <a:ext cx="1175657" cy="100584"/>
          </a:xfrm>
          <a:prstGeom prst="rect">
            <a:avLst/>
          </a:prstGeom>
          <a:solidFill>
            <a:srgbClr val="2A2310"/>
          </a:solidFill>
          <a:ln w="12700">
            <a:solidFill>
              <a:srgbClr val="2A23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44074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654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Wellness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4700016"/>
            <a:ext cx="1645920" cy="10058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700016"/>
            <a:ext cx="564315" cy="100584"/>
          </a:xfrm>
          <a:prstGeom prst="rect">
            <a:avLst/>
          </a:prstGeom>
          <a:solidFill>
            <a:srgbClr val="2A2310"/>
          </a:solidFill>
          <a:ln w="12700">
            <a:solidFill>
              <a:srgbClr val="2A23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46542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74320"/>
            <a:ext cx="9144" cy="4572000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5603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$10B+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4937760" y="1143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PEPTIDE MARKET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37760" y="1371600"/>
            <a:ext cx="384048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42646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4M+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4937760" y="2313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GLP-1 ADJACENT USERS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37760" y="2542032"/>
            <a:ext cx="384048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59689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4937760" y="34838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PRICE PER MONTH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937760" y="3712464"/>
            <a:ext cx="384048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7673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$12M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4937760" y="46542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 AT 5,000 USERS/YR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Razor-and-Blades.</a:t>
            </a:r>
            <a:endParaRPr lang="en-US" sz="3000" dirty="0"/>
          </a:p>
          <a:p>
            <a:pPr indent="0" marL="0">
              <a:buNone/>
            </a:pPr>
            <a:r>
              <a:rPr lang="en-US" sz="30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once. Consumables forever.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901952"/>
            <a:ext cx="4114800" cy="2907792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901952"/>
            <a:ext cx="45720" cy="2907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9751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RAZOR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2194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 System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" y="25786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30352" y="3081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ONE-TIME HARDWARE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30352" y="3310128"/>
            <a:ext cx="384048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93008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4198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CNC-machined matte black chassis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785616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7124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FDA-cleared internal engine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40050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Magnetic-snap Tip interface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370832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2976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warranty on hardware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901952"/>
            <a:ext cx="4114800" cy="2907792"/>
          </a:xfrm>
          <a:prstGeom prst="rect">
            <a:avLst/>
          </a:prstGeom>
          <a:solidFill>
            <a:srgbClr val="2A231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901952"/>
            <a:ext cx="45720" cy="2907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9751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BLADES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65192" y="2194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 Tips + Pods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65192" y="25786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$149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099048" y="27249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–299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965192" y="3081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MONTH, RECURRING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65192" y="3310128"/>
            <a:ext cx="384048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349300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9784" y="34198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Tips — 30-pack, disposable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3785616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9784" y="37124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 Pods — BPC-157 / GHK-Cu / TB-500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4078224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9784" y="40050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503B pharmacy-filled, sterile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4370832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9784" y="42976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Auto-renewing monthly subscription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solidFill>
            <a:srgbClr val="2A23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63600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Estimated blended gross margin: 68–74% on consumable stack at scale. Hardware cost recovered within 60 days.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MODEL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De-Risked Engineering.</a:t>
            </a:r>
            <a:endParaRPr lang="en-US" sz="3000" dirty="0"/>
          </a:p>
          <a:p>
            <a:pPr indent="0" marL="0">
              <a:buNone/>
            </a:pPr>
            <a:r>
              <a:rPr lang="en-US" sz="30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sleeve. We do not invent.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8229600" cy="475488"/>
          </a:xfrm>
          <a:prstGeom prst="rect">
            <a:avLst/>
          </a:prstGeom>
          <a:solidFill>
            <a:srgbClr val="2A23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1907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medical device path: $50M capital outlay. 5–7 year FDA 510(k) cycle. Pulse bypasses both.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114800" cy="1170432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45720" cy="1170432"/>
          </a:xfrm>
          <a:prstGeom prst="rect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423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1792" y="2606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INTERNAL ENGINE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80720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Ypsomed ServoPen / Owen Mumford Autopen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299923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FDA-cleared, ISO 11608-3 compliant reusable pen engines. We source existing, CE-marked mechanisms — eliminating device R&amp;D risk entirely. No 510(k) required.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2331720"/>
            <a:ext cx="4114800" cy="1170432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2331720"/>
            <a:ext cx="45720" cy="1170432"/>
          </a:xfrm>
          <a:prstGeom prst="rect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2423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65192" y="2606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PULSE CHASSIS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65192" y="280720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CNC-Machined 6061-T6 Aluminum Shell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65192" y="299923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Billet-machined matte-black sleeve replaces donor plastic housing. Type III hard-anodized for durability. 'Leica-style' tactile haptics — 312g balanced weight, precision-threaded end-cap.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93592"/>
            <a:ext cx="4114800" cy="1170432"/>
          </a:xfrm>
          <a:prstGeom prst="rect">
            <a:avLst/>
          </a:prstGeom>
          <a:solidFill>
            <a:srgbClr val="11111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93592"/>
            <a:ext cx="45720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685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21792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PULSE TIP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" y="406908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Proprietary Magnetic-Snap Disposable Interface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426110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IP asset. Houses a standard 31G needle within a Passive Retraction Shield — needle is never visible pre-actuation or post-use. Safety-locks on withdrawal. ISO 23908 sharps-protection compliant.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3593592"/>
            <a:ext cx="4114800" cy="1170432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593592"/>
            <a:ext cx="45720" cy="1170432"/>
          </a:xfrm>
          <a:prstGeom prst="rect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3685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65192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PEPTIDE PODS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65192" y="406908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3ml Glass Cartridges — 503B Filled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65192" y="426110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ISO 11040 glass cartridges filled by registered 503B outsourcing facilities (e.g. Empower Pharmacy). BPC-157, GHK-Cu, TB-500, CJC-1295. Full certificate of analysis on each batch.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REGULATORY POSITION —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Safe Harbor.</a:t>
            </a:r>
            <a:endParaRPr lang="en-US" sz="3000" dirty="0"/>
          </a:p>
          <a:p>
            <a:pPr indent="0" marL="0">
              <a:buNone/>
            </a:pPr>
            <a:r>
              <a:rPr lang="en-US" sz="30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Compliant by design. Not by accident.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1298448"/>
          </a:xfrm>
          <a:prstGeom prst="rect">
            <a:avLst/>
          </a:prstGeom>
          <a:solidFill>
            <a:srgbClr val="2A23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54864" cy="1298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FEB 27,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03120" y="2020824"/>
            <a:ext cx="1005840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0208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0505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224942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HHS RECLASSIFICATION — CATEGORY 1 STATUS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HHS designated BPC-157 and GHK-Cu as Category 1 compounds, removing them from the prior bulk substances list restriction. 503B compounding pharmacies may now compound these peptides for patient-specific prescriptions without individual FDA approval. Pulse's entire compound formulary is Category 1-eligible.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1298448"/>
          </a:xfrm>
          <a:prstGeom prst="rect">
            <a:avLst/>
          </a:prstGeom>
          <a:solidFill>
            <a:srgbClr val="0D1F14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37560"/>
            <a:ext cx="54864" cy="129844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29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4A8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 3, 2026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03120" y="3438144"/>
            <a:ext cx="1005840" cy="18288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34381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0505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MITIGATED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080" y="366674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FDA TELEHEALTH CRACKDOWN — PULSE IS EXEMPT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FDA's March 3 guidance targets platforms directly prescribing controlled substances through a single corporate entity. Pulse operates as a transparent MSO/PC model: an independent Physician-owned Professional Corporation holds all prescribing authority. Pulse provides only non-clinical management services. This structural separation is the operative Safe Harbor.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63600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MSO/PC Structure: Pulse (MSO) → Independent Professional Corporation (prescribing) → 503B Pharmacy → Patient. Clinical and commercial functions are fully separated.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phases.</a:t>
            </a:r>
            <a:endParaRPr lang="en-US" sz="3400" dirty="0"/>
          </a:p>
          <a:p>
            <a:pPr indent="0" marL="0">
              <a:buNone/>
            </a:pPr>
            <a:r>
              <a:rPr lang="en-US" sz="34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vision.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2697480" cy="2743200"/>
          </a:xfrm>
          <a:prstGeom prst="rect">
            <a:avLst/>
          </a:prstGeom>
          <a:solidFill>
            <a:srgbClr val="11111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762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011680" y="2231136"/>
            <a:ext cx="822960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231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0505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540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&amp; Build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242316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3502152"/>
            <a:ext cx="64008" cy="640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47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compounding pharmacy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3794760"/>
            <a:ext cx="64008" cy="640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39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vial formats + best-in-class UX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4087368"/>
            <a:ext cx="64008" cy="640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32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packaging &amp; onboarding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4379976"/>
            <a:ext cx="64008" cy="640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325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clinical layer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4672584"/>
            <a:ext cx="64008" cy="640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617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 users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2103120"/>
            <a:ext cx="2697480" cy="274320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1762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4892040" y="2231136"/>
            <a:ext cx="822960" cy="201168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231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MO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83280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0540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Experience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337560"/>
            <a:ext cx="242316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0712" y="3502152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3447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Reduced-visibility injectors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10712" y="3794760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3739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device–pharmacy alignment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10712" y="4087368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38728" y="4032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dosing clarity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10712" y="4379976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4325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personalization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10712" y="4672584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38728" y="4617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2,000 users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0" y="2103120"/>
            <a:ext cx="2697480" cy="274320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21762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41" name="Shape 39"/>
          <p:cNvSpPr/>
          <p:nvPr/>
        </p:nvSpPr>
        <p:spPr>
          <a:xfrm>
            <a:off x="7772400" y="2231136"/>
            <a:ext cx="822960" cy="201168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2231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MO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63640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63640" y="30540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Differentiation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3337560"/>
            <a:ext cx="242316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91072" y="3502152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9088" y="3447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Cartridge-based proprietary system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91072" y="3794760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9088" y="3739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Pre-filled, no-visible-needle delivery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4087368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19088" y="4032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Patent-defensible hardware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91072" y="4379976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9088" y="4325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protocol optimization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91072" y="4672584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19088" y="4617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5,000+ users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081528" y="3429000"/>
            <a:ext cx="45720" cy="9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35808" y="3493008"/>
            <a:ext cx="16459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61888" y="3429000"/>
            <a:ext cx="45720" cy="9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16168" y="3493008"/>
            <a:ext cx="16459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Orchestration,</a:t>
            </a:r>
            <a:endParaRPr lang="en-US" sz="3200" dirty="0"/>
          </a:p>
          <a:p>
            <a:pPr indent="0" marL="0">
              <a:buNone/>
            </a:pPr>
            <a:r>
              <a:rPr lang="en-US" sz="32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manufacturing.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5029200" cy="56692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54864" cy="566928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305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3500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physician + prescription authority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2624328"/>
            <a:ext cx="0" cy="7315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15768"/>
            <a:ext cx="5029200" cy="566928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15768"/>
            <a:ext cx="54864" cy="566928"/>
          </a:xfrm>
          <a:prstGeom prst="rect">
            <a:avLst/>
          </a:prstGeom>
          <a:solidFill>
            <a:srgbClr val="6B5B3E"/>
          </a:solidFill>
          <a:ln w="12700">
            <a:solidFill>
              <a:srgbClr val="6B5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88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PHARMACY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0083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pharmacy — prepares &amp; dispenses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14600" y="3282696"/>
            <a:ext cx="0" cy="7315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74136"/>
            <a:ext cx="5029200" cy="56692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74136"/>
            <a:ext cx="54864" cy="566928"/>
          </a:xfrm>
          <a:prstGeom prst="rect">
            <a:avLst/>
          </a:prstGeom>
          <a:solidFill>
            <a:srgbClr val="3E4E6B"/>
          </a:solidFill>
          <a:ln w="12700">
            <a:solidFill>
              <a:srgbClr val="3E4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366674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Injector / delivery tool provider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14600" y="3941064"/>
            <a:ext cx="0" cy="7315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32504"/>
            <a:ext cx="5029200" cy="566928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32504"/>
            <a:ext cx="54864" cy="566928"/>
          </a:xfrm>
          <a:prstGeom prst="rect">
            <a:avLst/>
          </a:prstGeom>
          <a:solidFill>
            <a:srgbClr val="5B3E6B"/>
          </a:solidFill>
          <a:ln w="12700">
            <a:solidFill>
              <a:srgbClr val="5B3E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1056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FULFILLMENT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3251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logistics, cold chain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2011680"/>
            <a:ext cx="3017520" cy="2834640"/>
          </a:xfrm>
          <a:prstGeom prst="rect">
            <a:avLst/>
          </a:prstGeom>
          <a:solidFill>
            <a:srgbClr val="2A231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1579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 OWNS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261518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5420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299923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926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89320" y="338328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3101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Design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376732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6941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415137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40782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Layer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Unfair advantages</a:t>
            </a:r>
            <a:endParaRPr lang="en-US" sz="3200" dirty="0"/>
          </a:p>
          <a:p>
            <a:pPr indent="0" marL="0">
              <a:buNone/>
            </a:pPr>
            <a:r>
              <a:rPr lang="en-US" sz="32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in place.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4572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488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8308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INFLUENCER ACCESS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240487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health &amp; fitness influencers with combined reach exceeding 1M followers. Organic, credible distribution from day one.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8229600" cy="7772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53512"/>
            <a:ext cx="4572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4495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83080" y="3044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PARTNERSHIP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330098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 relationship providing clinical credibility, prescription authority pathway, and protocol validation from a trusted medical professional.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8229600" cy="77724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49624"/>
            <a:ext cx="4572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41064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83080" y="3941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ECOSYSTEM ACCESS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419709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the Rythm ecosystem opens doors to early adopters, biohacker communities, and health-tech networks already primed for this product.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solidFill>
            <a:srgbClr val="2A23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63600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milestone: 50 founding users within 90 days of launch via warm network activation.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$12M ARR.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MILESTONES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035040" y="2240280"/>
            <a:ext cx="2834640" cy="5486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0" y="2240280"/>
            <a:ext cx="36576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44768" y="22951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44768" y="24963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users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0" y="2404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$100K/mo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2898648"/>
            <a:ext cx="2834640" cy="5486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2898648"/>
            <a:ext cx="36576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2953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12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144768" y="3154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 users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8952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$200K/mo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3557016"/>
            <a:ext cx="2834640" cy="5486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3557016"/>
            <a:ext cx="36576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18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44768" y="3813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2,500 users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89520" y="3721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$500K/mo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035040" y="4215384"/>
            <a:ext cx="2834640" cy="548640"/>
          </a:xfrm>
          <a:prstGeom prst="rect">
            <a:avLst/>
          </a:prstGeom>
          <a:solidFill>
            <a:srgbClr val="2A23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4215384"/>
            <a:ext cx="36576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44768" y="42702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24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144768" y="44714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 users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589520" y="4379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$1M/mo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forces</a:t>
            </a:r>
            <a:endParaRPr lang="en-US" sz="3400" dirty="0"/>
          </a:p>
          <a:p>
            <a:pPr indent="0" marL="0">
              <a:buNone/>
            </a:pPr>
            <a:r>
              <a:rPr lang="en-US" sz="34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converging.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4114800" cy="128016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45720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GLP-1 NORMALIZATION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Ozempic and Wegovy have trained millions of consumers to accept self-injection as a daily health ritual. The psychological barrier is lower than it has ever been.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2057400"/>
            <a:ext cx="4114800" cy="128016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057400"/>
            <a:ext cx="45720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LONGEVITY GOES MAINSTREAM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83480" y="2514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Biohacking and longevity have moved from fringe to mainstream. Peter Attia, Bryan Johnson, and the broader lifespan conversation have primed a mass audience.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114800" cy="128016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74720"/>
            <a:ext cx="45720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COMPOUNDING ACCESS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+ compounding pharmacies have created a compliant pathway to prescribe and deliver compounds that previously required specialist access.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474720"/>
            <a:ext cx="4114800" cy="128016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474720"/>
            <a:ext cx="45720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DTC HEALTH MATURATION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83480" y="3931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Hims, Ro, and Noom proved that health-conscious consumers will pay a premium for a polished, subscription-based health experience delivered to their door.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round.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29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OF FUNDS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359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Pharmacy Partnerships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0" y="2414016"/>
            <a:ext cx="3200400" cy="14630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2414016"/>
            <a:ext cx="96012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2359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Packaging Development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2816352"/>
            <a:ext cx="3200400" cy="14630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816352"/>
            <a:ext cx="8001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7614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63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User Acquisition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3218688"/>
            <a:ext cx="3200400" cy="14630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3218688"/>
            <a:ext cx="8001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31638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Technology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0" y="3621024"/>
            <a:ext cx="3200400" cy="14630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3621024"/>
            <a:ext cx="48006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566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68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0" y="4023360"/>
            <a:ext cx="3200400" cy="14630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4023360"/>
            <a:ext cx="16002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39684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15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IMMEDIATE NEXT STEPS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Talk to compounding pharmacies — capabilities, formats, partnerships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Talk to device manufacturers — compatibility, requirements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Validate willingness to pay — target: first 50 users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914400" y="2286000"/>
            <a:ext cx="10972800" cy="3657600"/>
          </a:xfrm>
          <a:prstGeom prst="rect">
            <a:avLst/>
          </a:prstGeom>
          <a:solidFill>
            <a:srgbClr val="2A2310"/>
          </a:solidFill>
          <a:ln w="12700">
            <a:solidFill>
              <a:srgbClr val="2A23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spc="1600" kern="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6675120" y="137160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press. Every day.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108960"/>
            <a:ext cx="274320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 therapy — simplified.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hello@pulsepeptide.com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pulsepeptide.com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for informational purposes only. Pulse Health Technologies is a pre-revenue concept stage company. All projections are forward-looking estimates.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Investor Deck</dc:title>
  <dc:subject>PptxGenJS Presentation</dc:subject>
  <dc:creator>Pulse Health Technologies</dc:creator>
  <cp:lastModifiedBy>Pulse Health Technologies</cp:lastModifiedBy>
  <cp:revision>1</cp:revision>
  <dcterms:created xsi:type="dcterms:W3CDTF">2026-03-20T14:56:55Z</dcterms:created>
  <dcterms:modified xsi:type="dcterms:W3CDTF">2026-03-20T14:56:55Z</dcterms:modified>
</cp:coreProperties>
</file>