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Month 6</c:v>
                  </c:pt>
                  <c:pt idx="1">
                    <c:v>Month 12</c:v>
                  </c:pt>
                  <c:pt idx="2">
                    <c:v>Month 18</c:v>
                  </c:pt>
                  <c:pt idx="3">
                    <c:v>Month 24</c:v>
                  </c:pt>
                  <c:pt idx="4">
                    <c:v>Month 30</c:v>
                  </c:pt>
                  <c:pt idx="5">
                    <c:v>Month 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30000</c:v>
                </c:pt>
                <c:pt idx="1">
                  <c:v>120000</c:v>
                </c:pt>
                <c:pt idx="2">
                  <c:v>300000</c:v>
                </c:pt>
                <c:pt idx="3">
                  <c:v>600000</c:v>
                </c:pt>
                <c:pt idx="4">
                  <c:v>800000</c:v>
                </c:pt>
                <c:pt idx="5">
                  <c:v>1000000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6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2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A96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111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480000">
            <a:off x="5943600" y="-457200"/>
            <a:ext cx="4114800" cy="6400800"/>
          </a:xfrm>
          <a:prstGeom prst="rect">
            <a:avLst/>
          </a:prstGeom>
          <a:solidFill>
            <a:srgbClr val="0A0A0F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480000">
            <a:off x="6583680" y="-457200"/>
            <a:ext cx="2743200" cy="6400800"/>
          </a:xfrm>
          <a:prstGeom prst="rect">
            <a:avLst/>
          </a:prstGeom>
          <a:solidFill>
            <a:srgbClr val="0A0A10"/>
          </a:solidFill>
          <a:ln w="12700">
            <a:solidFill>
              <a:srgbClr val="0A0A1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502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 INVESTOR MATERIALS —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spc="1200" kern="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5303520" y="192024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Delivery System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18688"/>
            <a:ext cx="32004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press. Every day.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exists.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is broken.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2651760" cy="21945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36576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Complex Sourcing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research and source compounds independently — no standardization, no verification, no support.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2468880"/>
            <a:ext cx="2651760" cy="21945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468880"/>
            <a:ext cx="36576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Preparation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Reconstitution, measurement, and dosing require precision and knowledge most users don't have.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468880"/>
            <a:ext cx="2651760" cy="21945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36576" cy="2194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5786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9992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Needle Phobia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383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needles and clinical-feeling processes create consistent drop-off in even motivated users.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63600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constraint is not demand — it is user experience.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Peptide therapy.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Simplified.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760720" y="182880"/>
            <a:ext cx="3200400" cy="46634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645920"/>
            <a:ext cx="292608" cy="292608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83096" y="173736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28232" y="2670048"/>
            <a:ext cx="237744" cy="877824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463600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BPC-157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6949440" y="1005840"/>
            <a:ext cx="365760" cy="35661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68312" y="109728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76872" y="2253996"/>
            <a:ext cx="310896" cy="1069848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4636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7498080" y="2011680"/>
            <a:ext cx="256032" cy="256032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62088" y="2103120"/>
            <a:ext cx="128016" cy="12801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25512" y="2907792"/>
            <a:ext cx="201168" cy="768096"/>
          </a:xfrm>
          <a:prstGeom prst="rect">
            <a:avLst/>
          </a:prstGeom>
          <a:solidFill>
            <a:srgbClr val="2A2310"/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63600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GHK-CU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2194560" cy="274320"/>
          </a:xfrm>
          <a:prstGeom prst="ellipse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19933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19202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sourcing — handled end-to-end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340864"/>
            <a:ext cx="5029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4688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23957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mixing — pharmacy pre-configured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2816352"/>
            <a:ext cx="5029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294436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" y="28712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measuring — doses set at dispensing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5029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41985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3467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needle — confident one-press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767328"/>
            <a:ext cx="5029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89534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" y="38221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guesswork — structured protocol included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massive,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motivated</a:t>
            </a:r>
            <a:endParaRPr lang="en-US" sz="3800" dirty="0"/>
          </a:p>
          <a:p>
            <a:pPr indent="0" marL="0">
              <a:buNone/>
            </a:pPr>
            <a:r>
              <a:rPr lang="en-US" sz="38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is now.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SEGMENTS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3913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/ Bodybuilding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3959352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3959352"/>
            <a:ext cx="1645920" cy="1005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69080" y="39136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Biohackers / Longevity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4206240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77440" y="4206240"/>
            <a:ext cx="1316736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69080" y="4160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407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GLP-1 Adjacent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4453128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4453128"/>
            <a:ext cx="1175657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4407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5429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Wellness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0" y="4700016"/>
            <a:ext cx="1645920" cy="10058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4700016"/>
            <a:ext cx="564315" cy="100584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46542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74320"/>
            <a:ext cx="9144" cy="4572000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5603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$10B+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937760" y="11430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 PEPTIDE MARKET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37760" y="1371600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42646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4M+</a:t>
            </a:r>
            <a:endParaRPr lang="en-US" sz="5200" dirty="0"/>
          </a:p>
        </p:txBody>
      </p:sp>
      <p:sp>
        <p:nvSpPr>
          <p:cNvPr id="28" name="Text 26"/>
          <p:cNvSpPr/>
          <p:nvPr/>
        </p:nvSpPr>
        <p:spPr>
          <a:xfrm>
            <a:off x="4937760" y="23134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GLP-1 ADJACENT USERS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937760" y="2542032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59689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5200" dirty="0"/>
          </a:p>
        </p:txBody>
      </p:sp>
      <p:sp>
        <p:nvSpPr>
          <p:cNvPr id="31" name="Text 29"/>
          <p:cNvSpPr/>
          <p:nvPr/>
        </p:nvSpPr>
        <p:spPr>
          <a:xfrm>
            <a:off x="4937760" y="348386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PRICE PER MONTH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937760" y="3712464"/>
            <a:ext cx="384048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76732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2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</a:t>
            </a:r>
            <a:endParaRPr lang="en-US" sz="5200" dirty="0"/>
          </a:p>
        </p:txBody>
      </p:sp>
      <p:sp>
        <p:nvSpPr>
          <p:cNvPr id="34" name="Text 32"/>
          <p:cNvSpPr/>
          <p:nvPr/>
        </p:nvSpPr>
        <p:spPr>
          <a:xfrm>
            <a:off x="4937760" y="4654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 AT 5,000 USERS/YR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Recurring. Scalable.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06040" cy="28803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4048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481328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3072384"/>
            <a:ext cx="233172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" y="3236976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peptide protocol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3538728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83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supply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840480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85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oversight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4142232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delivery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874520"/>
            <a:ext cx="2606040" cy="2880360"/>
          </a:xfrm>
          <a:prstGeom prst="rect">
            <a:avLst/>
          </a:prstGeom>
          <a:solidFill>
            <a:srgbClr val="2A23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929384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33756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E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37560" y="24048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315968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3072384"/>
            <a:ext cx="233172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64992" y="3236976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peptide protocols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3538728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483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supply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64992" y="3840480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785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oversight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4142232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delivery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64992" y="4443984"/>
            <a:ext cx="73152" cy="7315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93008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guidance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1874520"/>
            <a:ext cx="2606040" cy="288036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1488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LONGEVITY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24048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7150608" y="2788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072384"/>
            <a:ext cx="233172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99632" y="3236976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27648" y="318211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protocol stack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9632" y="3538728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348386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supply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99632" y="3840480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378561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clinical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99632" y="4142232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40873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White-glove delivery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99632" y="4443984"/>
            <a:ext cx="73152" cy="73152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4389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optimization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BUSINESS MODEL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phases.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vision.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2103120"/>
            <a:ext cx="2697480" cy="2743200"/>
          </a:xfrm>
          <a:prstGeom prst="rect">
            <a:avLst/>
          </a:prstGeom>
          <a:solidFill>
            <a:srgbClr val="111118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011680" y="2231136"/>
            <a:ext cx="82296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0505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2C9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LAUNCH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&amp; Build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3502152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compounding pharmacy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3794760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vial formats + best-in-class UX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4087368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packaging &amp; onboarding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4379976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clinical layer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4672584"/>
            <a:ext cx="64008" cy="6400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users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2103120"/>
            <a:ext cx="2697480" cy="274320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892040" y="2231136"/>
            <a:ext cx="822960" cy="201168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MO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8328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Experience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10712" y="3502152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3872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Reduced-visibility injectors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10712" y="3794760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3872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Tighter device–pharmacy alignment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10712" y="4087368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3872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dosing clarity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10712" y="4379976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3872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personalization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10712" y="4672584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3872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2,000 users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2103120"/>
            <a:ext cx="2697480" cy="274320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17627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A29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41" name="Shape 39"/>
          <p:cNvSpPr/>
          <p:nvPr/>
        </p:nvSpPr>
        <p:spPr>
          <a:xfrm>
            <a:off x="7772400" y="2231136"/>
            <a:ext cx="822960" cy="201168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23113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MO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263640" y="27614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263640" y="305409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Differentiation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263640" y="3337560"/>
            <a:ext cx="242316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91072" y="3502152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9088" y="3447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Cartridge-based proprietary system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3794760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19088" y="37398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Pre-filled, no-visible-needle delivery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4087368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19088" y="40325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Patent-defensible hardware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4379976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9088" y="4325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protocol optimization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91072" y="4672584"/>
            <a:ext cx="64008" cy="64008"/>
          </a:xfrm>
          <a:prstGeom prst="ellipse">
            <a:avLst/>
          </a:prstGeom>
          <a:solidFill>
            <a:srgbClr val="9A9690"/>
          </a:solidFill>
          <a:ln w="12700">
            <a:solidFill>
              <a:srgbClr val="9A96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9088" y="46177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5,000+ users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081528" y="3429000"/>
            <a:ext cx="45720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35808" y="3493008"/>
            <a:ext cx="16459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61888" y="3429000"/>
            <a:ext cx="45720" cy="91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916168" y="3493008"/>
            <a:ext cx="164592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ROADMAP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Orchestration,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manufacturing.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029200" cy="56692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54864" cy="566928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1305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350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physician + prescription authority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14600" y="2624328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15768"/>
            <a:ext cx="5029200" cy="56692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715768"/>
            <a:ext cx="54864" cy="566928"/>
          </a:xfrm>
          <a:prstGeom prst="rect">
            <a:avLst/>
          </a:prstGeom>
          <a:solidFill>
            <a:srgbClr val="6B5B3E"/>
          </a:solidFill>
          <a:ln w="12700">
            <a:solidFill>
              <a:srgbClr val="6B5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7889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PHARMACY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30083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pharmacy — prepares &amp; dispenses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14600" y="3282696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74136"/>
            <a:ext cx="5029200" cy="56692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74136"/>
            <a:ext cx="54864" cy="566928"/>
          </a:xfrm>
          <a:prstGeom prst="rect">
            <a:avLst/>
          </a:prstGeom>
          <a:solidFill>
            <a:srgbClr val="3E4E6B"/>
          </a:solidFill>
          <a:ln w="12700">
            <a:solidFill>
              <a:srgbClr val="3E4E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447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DEVICE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" y="366674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 / delivery tool provider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14600" y="3941064"/>
            <a:ext cx="0" cy="73152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032504"/>
            <a:ext cx="5029200" cy="566928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32504"/>
            <a:ext cx="54864" cy="566928"/>
          </a:xfrm>
          <a:prstGeom prst="rect">
            <a:avLst/>
          </a:prstGeom>
          <a:solidFill>
            <a:srgbClr val="5B3E6B"/>
          </a:solidFill>
          <a:ln w="12700">
            <a:solidFill>
              <a:srgbClr val="5B3E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056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" y="432511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Shipping, logistics, cold chain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760720" y="2011680"/>
            <a:ext cx="3017520" cy="2834640"/>
          </a:xfrm>
          <a:prstGeom prst="rect">
            <a:avLst/>
          </a:prstGeom>
          <a:solidFill>
            <a:srgbClr val="2A2310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 OWNS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261518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5420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99923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29260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89320" y="338328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33101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Design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89320" y="376732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36941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415137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40782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Layer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Unfair advantages</a:t>
            </a:r>
            <a:endParaRPr lang="en-US" sz="3200" dirty="0"/>
          </a:p>
          <a:p>
            <a:pPr indent="0" marL="0">
              <a:buNone/>
            </a:pPr>
            <a:r>
              <a:rPr lang="en-US" sz="32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in place.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822960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INFLUENCER ACCESS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83080" y="2404872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health &amp; fitness influencers with combined reach exceeding 1M followers. Organic, credible distribution from day one.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953512"/>
            <a:ext cx="8229600" cy="7772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53512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044952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✦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8308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PARTNERSHIP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330098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 relationship providing clinical credibility, prescription authority pathway, and protocol validation from a trusted medical professional.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822960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849624"/>
            <a:ext cx="45720" cy="7772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4106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∞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83080" y="39410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 ACCESS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419709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to the Rythm ecosystem opens doors to early adopters, biohacker communities, and health-tech networks already primed for this product.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636008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milestone: 50 founding users within 90 days of launch via warm network activation.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GTM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 to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$12M ARR.</a:t>
            </a:r>
            <a:endParaRPr lang="en-US" sz="3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3035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9202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MILESTONES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035040" y="2240280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035040" y="2240280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44768" y="22951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144768" y="24963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 users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89520" y="24048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$100K/mo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35040" y="2898648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2898648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44768" y="295351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12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144768" y="31546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 users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589520" y="3063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$200K/mo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35040" y="3557016"/>
            <a:ext cx="2834640" cy="548640"/>
          </a:xfrm>
          <a:prstGeom prst="rect">
            <a:avLst/>
          </a:prstGeom>
          <a:solidFill>
            <a:srgbClr val="16161E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3557016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44768" y="36118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18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44768" y="3813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 users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8952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6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$500K/mo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4215384"/>
            <a:ext cx="2834640" cy="548640"/>
          </a:xfrm>
          <a:prstGeom prst="rect">
            <a:avLst/>
          </a:prstGeom>
          <a:solidFill>
            <a:srgbClr val="2A2310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4215384"/>
            <a:ext cx="36576" cy="548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44768" y="42702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 24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44768" y="44714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 users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589520" y="437997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$1M/mo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FINANCIALS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forces</a:t>
            </a:r>
            <a:endParaRPr lang="en-US" sz="3400" dirty="0"/>
          </a:p>
          <a:p>
            <a:pPr indent="0" marL="0">
              <a:buNone/>
            </a:pPr>
            <a:r>
              <a:rPr lang="en-US" sz="34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converging.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05740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GLP-1 NORMALIZATION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Ozempic and Wegovy have trained millions of consumers to accept self-injection as a daily health ritual. The psychological barrier is lower than it has ever been.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205740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05740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2148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86400" y="2167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LONGEVITY GOES MAINSTREAM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25146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Biohacking and longevity have moved from fringe to mainstream. Peter Attia, Bryan Johnson, and the broader lifespan conversation have primed a mass audience.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7472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30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COMPOUNDING ACCESS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+ compounding pharmacies have created a compliant pathway to prescribe and deliver compounds that previously required specialist access.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3474720"/>
            <a:ext cx="4114800" cy="128016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3474720"/>
            <a:ext cx="45720" cy="12801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0" y="3584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F0E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DTC HEALTH MATURATION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8348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Hims, Ro, and Noom proved that health-conscious consumers will pay a premium for a polished, subscription-based health experience delivered to their door.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NOW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round.</a:t>
            </a:r>
            <a:endParaRPr lang="en-US" sz="3600" dirty="0"/>
          </a:p>
          <a:p>
            <a:pPr indent="0" marL="0">
              <a:buNone/>
            </a:pPr>
            <a:r>
              <a:rPr lang="en-US" sz="36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OF FUNDS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&amp; Pharmacy Partnerships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4800" y="2414016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2414016"/>
            <a:ext cx="96012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3591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Packaging Development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2816352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2816352"/>
            <a:ext cx="8001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7614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User Acquisition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0" y="3218688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3218688"/>
            <a:ext cx="80010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06640" y="3163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Technology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3621024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3621024"/>
            <a:ext cx="48006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3566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9684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0" y="4023360"/>
            <a:ext cx="3200400" cy="14630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0" y="4023360"/>
            <a:ext cx="160020" cy="14630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06640" y="39684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206240"/>
            <a:ext cx="82296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IMMEDIATE NEXT STEPS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Talk to compounding pharmacies — capabilities, formats, partnerships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Talk to device manufacturers — compatibility, requirements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Validate willingness to pay — target: first 50 users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A0A0F"/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9651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4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657600" y="49651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858000" y="49651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5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240000">
            <a:off x="-914400" y="2286000"/>
            <a:ext cx="10972800" cy="3657600"/>
          </a:xfrm>
          <a:prstGeom prst="rect">
            <a:avLst/>
          </a:prstGeom>
          <a:solidFill>
            <a:srgbClr val="2A2310"/>
          </a:solidFill>
          <a:ln w="12700">
            <a:solidFill>
              <a:srgbClr val="2A231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spc="1600" kern="0" dirty="0">
                <a:solidFill>
                  <a:srgbClr val="F0ED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PULSE</a:t>
            </a:r>
            <a:endParaRPr lang="en-US" sz="11000" dirty="0"/>
          </a:p>
        </p:txBody>
      </p:sp>
      <p:sp>
        <p:nvSpPr>
          <p:cNvPr id="5" name="Shape 3"/>
          <p:cNvSpPr/>
          <p:nvPr/>
        </p:nvSpPr>
        <p:spPr>
          <a:xfrm>
            <a:off x="6675120" y="1371600"/>
            <a:ext cx="201168" cy="20116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C9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press. Every 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0" y="3108960"/>
            <a:ext cx="2743200" cy="9144"/>
          </a:xfrm>
          <a:prstGeom prst="rect">
            <a:avLst/>
          </a:prstGeom>
          <a:solidFill>
            <a:srgbClr val="1E1E28"/>
          </a:solidFill>
          <a:ln w="12700">
            <a:solidFill>
              <a:srgbClr val="1E1E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Peptide therapy — simplified.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hello@pulsepeptide.com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187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9A96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pulsepeptide.com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for informational purposes only. Pulse Health Technologies is a pre-revenue concept stage company. All projections are forward-looking estimates.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 — Investor Deck</dc:title>
  <dc:subject>PptxGenJS Presentation</dc:subject>
  <dc:creator>Pulse Health Technologies</dc:creator>
  <cp:lastModifiedBy>Pulse Health Technologies</cp:lastModifiedBy>
  <cp:revision>1</cp:revision>
  <dcterms:created xsi:type="dcterms:W3CDTF">2026-03-20T13:05:46Z</dcterms:created>
  <dcterms:modified xsi:type="dcterms:W3CDTF">2026-03-20T13:05:46Z</dcterms:modified>
</cp:coreProperties>
</file>